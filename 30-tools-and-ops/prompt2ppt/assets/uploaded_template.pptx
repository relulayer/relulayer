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8024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463040"/>
            <a:ext cx="5303520" cy="5303520"/>
          </a:xfrm>
          <a:prstGeom prst="ellipse">
            <a:avLst/>
          </a:prstGeom>
          <a:solidFill>
            <a:srgbClr val="000000">
              <a:alpha val="0"/>
            </a:srgbClr>
          </a:solidFill>
          <a:ln w="6350">
            <a:solidFill>
              <a:srgbClr val="0A192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92240" y="-822960"/>
            <a:ext cx="4023360" cy="4023360"/>
          </a:xfrm>
          <a:prstGeom prst="ellipse">
            <a:avLst/>
          </a:prstGeom>
          <a:solidFill>
            <a:srgbClr val="000000">
              <a:alpha val="0"/>
            </a:srgbClr>
          </a:solidFill>
          <a:ln w="6350">
            <a:solidFill>
              <a:srgbClr val="FFB81C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949440" y="-365760"/>
            <a:ext cx="2926080" cy="2926080"/>
          </a:xfrm>
          <a:prstGeom prst="ellipse">
            <a:avLst/>
          </a:prstGeom>
          <a:solidFill>
            <a:srgbClr val="FFB81C">
              <a:alpha val="4000"/>
            </a:srgbClr>
          </a:solidFill>
          <a:ln w="5080">
            <a:solidFill>
              <a:srgbClr val="FFB81C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45A52"/>
          </a:solidFill>
          <a:ln w="12700">
            <a:solidFill>
              <a:srgbClr val="A45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" y="0"/>
            <a:ext cx="36576" cy="5143500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sessions/peaceful-amazing-planck/mnt/uploads/ReluLayer-logo-horizontal-wordpress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472" y="274320"/>
            <a:ext cx="2377440" cy="594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47472" y="960120"/>
            <a:ext cx="3474720" cy="0"/>
          </a:xfrm>
          <a:prstGeom prst="line">
            <a:avLst/>
          </a:prstGeom>
          <a:noFill/>
          <a:ln w="6350">
            <a:solidFill>
              <a:srgbClr val="FFB81C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47472" y="10515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CONFIDENTIAL INVESTOR PRESENTATION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47472" y="1426464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Intelligent Compliance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347472" y="2304288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</a:t>
            </a:r>
            <a:endParaRPr lang="en-US" sz="4200" dirty="0"/>
          </a:p>
        </p:txBody>
      </p:sp>
      <p:sp>
        <p:nvSpPr>
          <p:cNvPr id="12" name="Text 9"/>
          <p:cNvSpPr/>
          <p:nvPr/>
        </p:nvSpPr>
        <p:spPr>
          <a:xfrm>
            <a:off x="347472" y="2980944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B8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Modern Enterprises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347472" y="3657600"/>
            <a:ext cx="1371600" cy="36576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47472" y="37856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 |  Q1 2026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47472" y="4114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discussion purposes only. Not for distribution.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20040" y="48966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relulayer.ai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548640" y="0"/>
            <a:ext cx="5486400" cy="514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500" b="1" dirty="0">
                <a:solidFill>
                  <a:srgbClr val="EAED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95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45A52"/>
          </a:solidFill>
          <a:ln w="12700">
            <a:solidFill>
              <a:srgbClr val="A45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" y="0"/>
            <a:ext cx="36576" cy="5143500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47472" y="15727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00" dirty="0">
                <a:solidFill>
                  <a:srgbClr val="FFB8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ONE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47472" y="1956816"/>
            <a:ext cx="2011680" cy="36576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7472" y="2029968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Section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47472" y="2907792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Headline Here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47472" y="411480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brief description of what this section covers and why it matters to the audience.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321040" y="4160520"/>
            <a:ext cx="201168" cy="201168"/>
          </a:xfrm>
          <a:prstGeom prst="ellipse">
            <a:avLst/>
          </a:prstGeom>
          <a:solidFill>
            <a:srgbClr val="A45A52"/>
          </a:solidFill>
          <a:ln w="12700">
            <a:solidFill>
              <a:srgbClr val="A45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48966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relulayer.ai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732520" y="489661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sessions/peaceful-amazing-planck/mnt/uploads/ReluLayer-logo-horizontal-wordpress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91440"/>
            <a:ext cx="1371600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91440"/>
            <a:ext cx="6903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400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0" y="548640"/>
            <a:ext cx="9144000" cy="18288"/>
          </a:xfrm>
          <a:prstGeom prst="rect">
            <a:avLst/>
          </a:prstGeom>
          <a:solidFill>
            <a:srgbClr val="D8DCE8"/>
          </a:solidFill>
          <a:ln w="1270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11480" y="65836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 TODAY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11480" y="987552"/>
            <a:ext cx="4160520" cy="1572768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11480" y="987552"/>
            <a:ext cx="4160520" cy="50292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94360" y="1389888"/>
            <a:ext cx="512064" cy="512064"/>
          </a:xfrm>
          <a:prstGeom prst="ellipse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4360" y="13898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34440" y="130759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234440" y="1792224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challenges in enterprise compliance workflows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92040" y="987552"/>
            <a:ext cx="4160520" cy="1572768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892040" y="987552"/>
            <a:ext cx="4160520" cy="50292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074920" y="1389888"/>
            <a:ext cx="512064" cy="512064"/>
          </a:xfrm>
          <a:prstGeom prst="ellipse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074920" y="13898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715000" y="130759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5715000" y="1792224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ReluLayer.ai transforms the end-to-end process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11480" y="2770632"/>
            <a:ext cx="4160520" cy="1572768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11480" y="2770632"/>
            <a:ext cx="4160520" cy="50292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594360" y="3172968"/>
            <a:ext cx="512064" cy="512064"/>
          </a:xfrm>
          <a:prstGeom prst="ellipse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94360" y="3172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234440" y="309067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Opportunity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1234440" y="3575304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$14B TAM and competitive landscape overview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892040" y="2770632"/>
            <a:ext cx="4160520" cy="1572768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4892040" y="2770632"/>
            <a:ext cx="4160520" cy="50292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074920" y="3172968"/>
            <a:ext cx="512064" cy="512064"/>
          </a:xfrm>
          <a:prstGeom prst="ellipse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074920" y="31729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715000" y="309067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Traction &amp; Growth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5715000" y="3575304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ARR, net retention, and enterprise proof points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320040" y="48966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relulayer.ai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732520" y="489661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sessions/peaceful-amazing-planck/mnt/uploads/ReluLayer-logo-horizontal-wordpress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91440"/>
            <a:ext cx="1371600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91440"/>
            <a:ext cx="6903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400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0" y="548640"/>
            <a:ext cx="9144000" cy="18288"/>
          </a:xfrm>
          <a:prstGeom prst="rect">
            <a:avLst/>
          </a:prstGeom>
          <a:solidFill>
            <a:srgbClr val="D8DCE8"/>
          </a:solidFill>
          <a:ln w="1270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11480" y="69494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11480" y="987552"/>
            <a:ext cx="3794760" cy="3547872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11480" y="987552"/>
            <a:ext cx="50292" cy="3547872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03504" y="1115568"/>
            <a:ext cx="342900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compliance workflows consume 40% of legal ops time</a:t>
            </a:r>
            <a:endParaRPr lang="en-US" sz="13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updates arrive faster than teams can track</a:t>
            </a:r>
            <a:endParaRPr lang="en-US" sz="13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Cross-jurisdictional complexity creates serious audit exposure</a:t>
            </a:r>
            <a:endParaRPr lang="en-US" sz="1300" dirty="0"/>
          </a:p>
          <a:p>
            <a:pPr marL="342900" indent="-342900" algn="l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tools require expensive consultant customization</a:t>
            </a:r>
            <a:endParaRPr lang="en-US" sz="1300" dirty="0"/>
          </a:p>
          <a:p>
            <a:pPr marL="342900" indent="-342900" algn="l"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source of truth across regulatory frameworks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754880" y="69494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A45A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IMPACT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54880" y="987552"/>
            <a:ext cx="397764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54880" y="987552"/>
            <a:ext cx="50292" cy="1051560"/>
          </a:xfrm>
          <a:prstGeom prst="rect">
            <a:avLst/>
          </a:prstGeom>
          <a:solidFill>
            <a:srgbClr val="A45A52"/>
          </a:solidFill>
          <a:ln w="12700">
            <a:solidFill>
              <a:srgbClr val="A45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901184" y="1060704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$4.5B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4901184" y="157276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compliance cost for mid-market firms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754880" y="2176272"/>
            <a:ext cx="397764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754880" y="2176272"/>
            <a:ext cx="50292" cy="1051560"/>
          </a:xfrm>
          <a:prstGeom prst="rect">
            <a:avLst/>
          </a:prstGeom>
          <a:solidFill>
            <a:srgbClr val="A45A52"/>
          </a:solidFill>
          <a:ln w="12700">
            <a:solidFill>
              <a:srgbClr val="A45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901184" y="2249424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67%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4901184" y="276148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legal teams cite lack of automation as top pain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54880" y="3364992"/>
            <a:ext cx="3977640" cy="10515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754880" y="3364992"/>
            <a:ext cx="50292" cy="1051560"/>
          </a:xfrm>
          <a:prstGeom prst="rect">
            <a:avLst/>
          </a:prstGeom>
          <a:solidFill>
            <a:srgbClr val="A45A52"/>
          </a:solidFill>
          <a:ln w="12700">
            <a:solidFill>
              <a:srgbClr val="A45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901184" y="3438144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3.2×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4901184" y="3950208"/>
            <a:ext cx="3703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audit failure rate: manual vs. automated firms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20040" y="48966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relulayer.ai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732520" y="489661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45A52"/>
          </a:solidFill>
          <a:ln w="12700">
            <a:solidFill>
              <a:srgbClr val="A45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36576" cy="5143500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47472" y="3474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TRACTION &amp; METRICS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71323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Numbers That Tell Our Story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749040" y="1371600"/>
            <a:ext cx="1645920" cy="36576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4048" y="1554480"/>
            <a:ext cx="2724912" cy="27614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84048" y="1554480"/>
            <a:ext cx="2724912" cy="457200"/>
          </a:xfrm>
          <a:prstGeom prst="rect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" y="1572768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2084832"/>
            <a:ext cx="2542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B8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$2.4M</a:t>
            </a:r>
            <a:endParaRPr lang="en-US" sz="5400" dirty="0"/>
          </a:p>
        </p:txBody>
      </p:sp>
      <p:sp>
        <p:nvSpPr>
          <p:cNvPr id="11" name="Shape 9"/>
          <p:cNvSpPr/>
          <p:nvPr/>
        </p:nvSpPr>
        <p:spPr>
          <a:xfrm>
            <a:off x="932688" y="3090672"/>
            <a:ext cx="1627632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3163824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recurring revenue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grown 3× year-over-year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310128" y="1554480"/>
            <a:ext cx="2724912" cy="27614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310128" y="1554480"/>
            <a:ext cx="2724912" cy="457200"/>
          </a:xfrm>
          <a:prstGeom prst="rect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01568" y="1572768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NRR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01568" y="2084832"/>
            <a:ext cx="2542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B8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94%</a:t>
            </a:r>
            <a:endParaRPr lang="en-US" sz="5400" dirty="0"/>
          </a:p>
        </p:txBody>
      </p:sp>
      <p:sp>
        <p:nvSpPr>
          <p:cNvPr id="17" name="Shape 15"/>
          <p:cNvSpPr/>
          <p:nvPr/>
        </p:nvSpPr>
        <p:spPr>
          <a:xfrm>
            <a:off x="3858768" y="3090672"/>
            <a:ext cx="1627632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01568" y="3163824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enterprise portfolio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36208" y="1554480"/>
            <a:ext cx="2724912" cy="2761488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36208" y="1554480"/>
            <a:ext cx="2724912" cy="457200"/>
          </a:xfrm>
          <a:prstGeom prst="rect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27648" y="1572768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27648" y="2084832"/>
            <a:ext cx="2542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B8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48</a:t>
            </a:r>
            <a:endParaRPr lang="en-US" sz="5400" dirty="0"/>
          </a:p>
        </p:txBody>
      </p:sp>
      <p:sp>
        <p:nvSpPr>
          <p:cNvPr id="23" name="Shape 21"/>
          <p:cNvSpPr/>
          <p:nvPr/>
        </p:nvSpPr>
        <p:spPr>
          <a:xfrm>
            <a:off x="6784848" y="3090672"/>
            <a:ext cx="1627632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27648" y="3163824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clients across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regulated verticals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040" y="48966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relulayer.ai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732520" y="489661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45A52"/>
          </a:solidFill>
          <a:ln w="12700">
            <a:solidFill>
              <a:srgbClr val="A45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" y="0"/>
            <a:ext cx="36576" cy="5143500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64592" y="-54864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0" b="1" dirty="0">
                <a:solidFill>
                  <a:srgbClr val="EAED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2000" dirty="0"/>
          </a:p>
        </p:txBody>
      </p:sp>
      <p:sp>
        <p:nvSpPr>
          <p:cNvPr id="5" name="Text 3"/>
          <p:cNvSpPr/>
          <p:nvPr/>
        </p:nvSpPr>
        <p:spPr>
          <a:xfrm>
            <a:off x="347472" y="228600"/>
            <a:ext cx="1280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dirty="0">
                <a:solidFill>
                  <a:srgbClr val="FFB8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347472" y="118872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200" i="1" dirty="0">
                <a:solidFill>
                  <a:srgbClr val="0A19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ReluLayer.ai cut our compliance review time by 70% in the first quarter. It's the most impactful workflow tool we've deployed in five years.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47472" y="3246120"/>
            <a:ext cx="1371600" cy="36576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" y="3364992"/>
            <a:ext cx="7772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Sarah Chen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7472" y="3721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Legal Officer  |  Meridian Financial Group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321040" y="3337560"/>
            <a:ext cx="201168" cy="201168"/>
          </a:xfrm>
          <a:prstGeom prst="ellipse">
            <a:avLst/>
          </a:prstGeom>
          <a:solidFill>
            <a:srgbClr val="A45A52"/>
          </a:solidFill>
          <a:ln w="12700">
            <a:solidFill>
              <a:srgbClr val="A45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0040" y="48966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relulayer.ai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732520" y="489661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sessions/peaceful-amazing-planck/mnt/uploads/ReluLayer-logo-horizontal-wordpress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320" y="91440"/>
            <a:ext cx="1371600" cy="34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20240" y="91440"/>
            <a:ext cx="6903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400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TEAM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0" y="548640"/>
            <a:ext cx="9144000" cy="18288"/>
          </a:xfrm>
          <a:prstGeom prst="rect">
            <a:avLst/>
          </a:prstGeom>
          <a:solidFill>
            <a:srgbClr val="D8DCE8"/>
          </a:solidFill>
          <a:ln w="12700">
            <a:solidFill>
              <a:srgbClr val="D8DC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11480" y="67665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PEOPLE BEHIND RELULAYER.AI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749808" y="1078992"/>
            <a:ext cx="1389888" cy="1389888"/>
          </a:xfrm>
          <a:prstGeom prst="ellipse">
            <a:avLst/>
          </a:prstGeom>
          <a:solidFill>
            <a:srgbClr val="1A3B6A"/>
          </a:solidFill>
          <a:ln w="254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49808" y="1078992"/>
            <a:ext cx="13898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JD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1901952" y="2340864"/>
            <a:ext cx="164592" cy="164592"/>
          </a:xfrm>
          <a:prstGeom prst="ellipse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11480" y="260604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Jane Doe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11480" y="2990088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Co-Founder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11480" y="3456432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years enterprise SaaS.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 [Company Name].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926080" y="1078992"/>
            <a:ext cx="1389888" cy="1389888"/>
          </a:xfrm>
          <a:prstGeom prst="ellipse">
            <a:avLst/>
          </a:prstGeom>
          <a:solidFill>
            <a:srgbClr val="16325A"/>
          </a:solidFill>
          <a:ln w="254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926080" y="1078992"/>
            <a:ext cx="13898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MR</a:t>
            </a:r>
            <a:endParaRPr lang="en-US" sz="3000" dirty="0"/>
          </a:p>
        </p:txBody>
      </p:sp>
      <p:sp>
        <p:nvSpPr>
          <p:cNvPr id="15" name="Shape 12"/>
          <p:cNvSpPr/>
          <p:nvPr/>
        </p:nvSpPr>
        <p:spPr>
          <a:xfrm>
            <a:off x="4078224" y="2340864"/>
            <a:ext cx="164592" cy="164592"/>
          </a:xfrm>
          <a:prstGeom prst="ellipse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587752" y="260604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 Rivera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587752" y="2990088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&amp; Co-Founder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587752" y="3456432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years enterprise SaaS.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 [Company Name].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102352" y="1078992"/>
            <a:ext cx="1389888" cy="1389888"/>
          </a:xfrm>
          <a:prstGeom prst="ellipse">
            <a:avLst/>
          </a:prstGeom>
          <a:solidFill>
            <a:srgbClr val="122A4C"/>
          </a:solidFill>
          <a:ln w="254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102352" y="1078992"/>
            <a:ext cx="13898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PN</a:t>
            </a:r>
            <a:endParaRPr lang="en-US" sz="3000" dirty="0"/>
          </a:p>
        </p:txBody>
      </p:sp>
      <p:sp>
        <p:nvSpPr>
          <p:cNvPr id="21" name="Shape 18"/>
          <p:cNvSpPr/>
          <p:nvPr/>
        </p:nvSpPr>
        <p:spPr>
          <a:xfrm>
            <a:off x="6254496" y="2340864"/>
            <a:ext cx="164592" cy="164592"/>
          </a:xfrm>
          <a:prstGeom prst="ellipse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764024" y="260604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Priya Nair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764024" y="2990088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Product Officer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764024" y="3456432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years enterprise SaaS.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 [Company Name].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7278624" y="1078992"/>
            <a:ext cx="1389888" cy="1389888"/>
          </a:xfrm>
          <a:prstGeom prst="ellipse">
            <a:avLst/>
          </a:prstGeom>
          <a:solidFill>
            <a:srgbClr val="0F233E"/>
          </a:solidFill>
          <a:ln w="254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278624" y="1078992"/>
            <a:ext cx="1389888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</a:t>
            </a:r>
            <a:endParaRPr lang="en-US" sz="3000" dirty="0"/>
          </a:p>
        </p:txBody>
      </p:sp>
      <p:sp>
        <p:nvSpPr>
          <p:cNvPr id="27" name="Shape 24"/>
          <p:cNvSpPr/>
          <p:nvPr/>
        </p:nvSpPr>
        <p:spPr>
          <a:xfrm>
            <a:off x="8430768" y="2340864"/>
            <a:ext cx="164592" cy="164592"/>
          </a:xfrm>
          <a:prstGeom prst="ellipse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940296" y="260604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Tom Walsh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940296" y="2990088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Sales &amp; Partnerships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940296" y="3456432"/>
            <a:ext cx="20299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years enterprise SaaS.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 [Company Name].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320040" y="48966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relulayer.ai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732520" y="4896612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822960"/>
            <a:ext cx="5669280" cy="5669280"/>
          </a:xfrm>
          <a:prstGeom prst="ellipse">
            <a:avLst/>
          </a:prstGeom>
          <a:solidFill>
            <a:srgbClr val="000000">
              <a:alpha val="0"/>
            </a:srgbClr>
          </a:solidFill>
          <a:ln w="6350">
            <a:solidFill>
              <a:srgbClr val="0A192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760720" y="-137160"/>
            <a:ext cx="4206240" cy="4206240"/>
          </a:xfrm>
          <a:prstGeom prst="ellipse">
            <a:avLst/>
          </a:prstGeom>
          <a:solidFill>
            <a:srgbClr val="000000">
              <a:alpha val="0"/>
            </a:srgbClr>
          </a:solidFill>
          <a:ln w="6350">
            <a:solidFill>
              <a:srgbClr val="FFB81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309360" y="365760"/>
            <a:ext cx="3017520" cy="3017520"/>
          </a:xfrm>
          <a:prstGeom prst="ellipse">
            <a:avLst/>
          </a:prstGeom>
          <a:solidFill>
            <a:srgbClr val="FFB81C">
              <a:alpha val="5000"/>
            </a:srgbClr>
          </a:solidFill>
          <a:ln w="5080">
            <a:solidFill>
              <a:srgbClr val="FFB81C">
                <a:alpha val="3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A45A52"/>
          </a:solidFill>
          <a:ln w="12700">
            <a:solidFill>
              <a:srgbClr val="A45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" y="0"/>
            <a:ext cx="36576" cy="5143500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sessions/peaceful-amazing-planck/mnt/uploads/ReluLayer-logo-horizontal-wordpress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34640" y="411480"/>
            <a:ext cx="3474720" cy="8686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429000" y="1353312"/>
            <a:ext cx="2286000" cy="36576"/>
          </a:xfrm>
          <a:prstGeom prst="rect">
            <a:avLst/>
          </a:prstGeom>
          <a:solidFill>
            <a:srgbClr val="FFB81C"/>
          </a:solidFill>
          <a:ln w="12700">
            <a:solidFill>
              <a:srgbClr val="FFB8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47472" y="1481328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A192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Build the Future of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347472" y="2304288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B81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Compliance.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347472" y="3310128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A19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hello@relulayer.ai   ·   www.relulayer.ai   ·   Schedule a Demo →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200400" y="3767328"/>
            <a:ext cx="2743200" cy="27432"/>
          </a:xfrm>
          <a:prstGeom prst="rect">
            <a:avLst/>
          </a:prstGeom>
          <a:solidFill>
            <a:srgbClr val="A45A52"/>
          </a:solidFill>
          <a:ln w="12700">
            <a:solidFill>
              <a:srgbClr val="A45A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47472" y="387705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Confidential. For discussion purposes only. Not for distribution.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A192F"/>
          </a:solidFill>
          <a:ln w="12700">
            <a:solidFill>
              <a:srgbClr val="0A192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20040" y="48966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relulayer.ai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luLayer-Theme-Print" id="{A70D882A-C32E-FE40-B322-9F5CF2E83BCD}" vid="{5CCD77B8-3D7E-994E-9249-9C0457319F0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392</Words>
  <Application>Microsoft Macintosh PowerPoint</Application>
  <PresentationFormat>On-screen Show (16:9)</PresentationFormat>
  <Paragraphs>106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ReluLayer.ai — Presentation Theme (Print)</dc:title>
  <dc:subject>PptxGenJS Presentation</dc:subject>
  <dc:creator>ReluLayer.ai</dc:creator>
  <cp:lastModifiedBy>Ishmael Amin</cp:lastModifiedBy>
  <cp:revision>1</cp:revision>
  <dcterms:created xsi:type="dcterms:W3CDTF">2026-03-30T18:57:39Z</dcterms:created>
  <dcterms:modified xsi:type="dcterms:W3CDTF">2026-03-31T21:36:23Z</dcterms:modified>
</cp:coreProperties>
</file>