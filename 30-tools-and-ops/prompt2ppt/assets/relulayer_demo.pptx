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02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5303520" cy="530352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-822960"/>
            <a:ext cx="4023360" cy="402336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365760"/>
            <a:ext cx="2926080" cy="2926080"/>
          </a:xfrm>
          <a:prstGeom prst="ellipse">
            <a:avLst/>
          </a:prstGeom>
          <a:solidFill>
            <a:srgbClr val="FFB81C">
              <a:alpha val="4000"/>
            </a:srgbClr>
          </a:solidFill>
          <a:ln w="5080">
            <a:solidFill>
              <a:srgbClr val="FFB81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72" y="274320"/>
            <a:ext cx="237744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960120"/>
            <a:ext cx="3474720" cy="0"/>
          </a:xfrm>
          <a:prstGeom prst="line">
            <a:avLst/>
          </a:prstGeom>
          <a:noFill/>
          <a:ln w="6350">
            <a:solidFill>
              <a:srgbClr val="FFB81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INVESTOR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" y="142646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Compliance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47472" y="23042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347472" y="29809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Modern Enterprises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47472" y="365760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|  Q1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purposes only. Not for distribution.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0"/>
            <a:ext cx="54864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dirty="0">
                <a:solidFill>
                  <a:srgbClr val="EA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956816"/>
            <a:ext cx="201168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Section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Here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" y="4114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description of what this section covers and why it matters to the audience.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416052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in enterprise compliance workflows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7492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1500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71500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ReluLayer.ai transforms the end-to-end process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1148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23444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 TAM and competitive landscape overview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9204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9204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7492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7492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1500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Growth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71500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ARR, net retention, and enterprise proof points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949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379476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50292" cy="354787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" y="1115568"/>
            <a:ext cx="34290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workflows consume 40% of legal ops time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updates arrive faster than teams can track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complexity creates serious audit exposure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require expensive consultant customization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across regulatory frameworks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694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45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98755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98755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01184" y="10607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$4.5B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901184" y="15727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compliance cost for mid-market firms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7627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217627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01184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901184" y="27614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legal teams cite lack of automation as top pain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36499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336499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01184" y="34381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3.2×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901184" y="39502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audit failure rate: manual vs. automated firms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347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That Tell Our Story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164592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$2.4M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93268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 3× year-over-year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156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385876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156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enterprise portfolio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5400" dirty="0"/>
          </a:p>
        </p:txBody>
      </p:sp>
      <p:sp>
        <p:nvSpPr>
          <p:cNvPr id="23" name="Shape 21"/>
          <p:cNvSpPr/>
          <p:nvPr/>
        </p:nvSpPr>
        <p:spPr>
          <a:xfrm>
            <a:off x="678484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across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regulated verticals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-5486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AE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B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0A1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ReluLayer.ai cut our compliance review time by 70% in the first quarter. It's the most impactful workflow tool we've deployed in five years.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324612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3364992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 Chen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3721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Legal Officer  |  Meridian Financial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333756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766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BEHIND RELULAYER.AI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9808" y="1078992"/>
            <a:ext cx="1389888" cy="1389888"/>
          </a:xfrm>
          <a:prstGeom prst="ellipse">
            <a:avLst/>
          </a:prstGeom>
          <a:solidFill>
            <a:srgbClr val="1A3B6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901952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 Doe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1078992"/>
            <a:ext cx="1389888" cy="1389888"/>
          </a:xfrm>
          <a:prstGeom prst="ellipse">
            <a:avLst/>
          </a:prstGeom>
          <a:solidFill>
            <a:srgbClr val="16325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26080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078224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87752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Rivera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87752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87752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02352" y="1078992"/>
            <a:ext cx="1389888" cy="1389888"/>
          </a:xfrm>
          <a:prstGeom prst="ellipse">
            <a:avLst/>
          </a:prstGeom>
          <a:solidFill>
            <a:srgbClr val="122A4C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02352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PN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6254496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64024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Priya Nair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64024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Officer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64024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78624" y="1078992"/>
            <a:ext cx="1389888" cy="1389888"/>
          </a:xfrm>
          <a:prstGeom prst="ellipse">
            <a:avLst/>
          </a:prstGeom>
          <a:solidFill>
            <a:srgbClr val="0F233E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78624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</a:t>
            </a:r>
            <a:endParaRPr lang="en-US" sz="3000" dirty="0"/>
          </a:p>
        </p:txBody>
      </p:sp>
      <p:sp>
        <p:nvSpPr>
          <p:cNvPr id="27" name="Shape 24"/>
          <p:cNvSpPr/>
          <p:nvPr/>
        </p:nvSpPr>
        <p:spPr>
          <a:xfrm>
            <a:off x="8430768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40296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 Walsh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0296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&amp; Partnerships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0296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822960"/>
            <a:ext cx="5669280" cy="566928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-137160"/>
            <a:ext cx="4206240" cy="420624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365760"/>
            <a:ext cx="3017520" cy="3017520"/>
          </a:xfrm>
          <a:prstGeom prst="ellipse">
            <a:avLst/>
          </a:prstGeom>
          <a:solidFill>
            <a:srgbClr val="FFB81C">
              <a:alpha val="5000"/>
            </a:srgbClr>
          </a:solidFill>
          <a:ln w="5080">
            <a:solidFill>
              <a:srgbClr val="FFB81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411480"/>
            <a:ext cx="347472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1353312"/>
            <a:ext cx="22860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48132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47472" y="230428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7472" y="331012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hello@relulayer.ai   ·   www.relulayer.ai   ·   Schedule a Demo 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3767328"/>
            <a:ext cx="2743200" cy="27432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" y="3877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Confidential. For discussion purposes only. Not for distribution.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200"/>
            <a:ext cx="4136745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4CBDE"/>
                </a:solidFill>
              </a:defRPr>
            </a:pPr>
            <a:r>
              <a:t>Louisiana faces a $1.3 Billion FEMA audit exposure – a single mistake can trigger significant clawbacks.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Current manual compliance workflows consume 40% of legal operations time and result in a 3.2x higher audit failure rate.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ReluLayer is a patent-pending (U.S. App. No. 63/XXX,XXX) sovereign agentic architecture designed specifically for 2 CFR 200 and FEMA grant compliance.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Our deterministic routing middleware eliminates token bloat, prevents mathematical hallucination, and significantly reduces computational latency.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13674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Securing Louisiana's Capital: Intelligent Compliance Automation</a:t>
            </a:r>
          </a:p>
        </p:txBody>
      </p:sp>
      <p:pic>
        <p:nvPicPr>
          <p:cNvPr id="4" name="Picture 3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65" y="457200"/>
            <a:ext cx="42291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200"/>
            <a:ext cx="4136745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4CBDE"/>
                </a:solidFill>
              </a:defRPr>
            </a:pPr>
            <a:r>
              <a:t>FEMA grant compliance requires meticulous adherence to 2 CFR 200, a complex and ever-changing framework.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Manual workflows are error-prone, leading to costly audits and potential clawbacks – an $84 million project can trigger massive liability.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Traditional AI solutions struggle with complex quantitative data, leading to token bloat, latency, and mathematical 'hallucinations' – compromised data integrity.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Current legal and compliance teams are overwhelmed, lacking the bandwidth to proactively manage the escalating risk exposure.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13674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The Problem: Reactive Compliance, Rising Risk</a:t>
            </a:r>
          </a:p>
        </p:txBody>
      </p:sp>
      <p:pic>
        <p:nvPicPr>
          <p:cNvPr id="4" name="Picture 3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65" y="457200"/>
            <a:ext cx="42291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200"/>
            <a:ext cx="4136745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4CBDE"/>
                </a:solidFill>
              </a:defRPr>
            </a:pPr>
            <a:r>
              <a:t>Our patent-pending architecture bifurcates workloads: semantic data goes to LLMs, quantitative constraints route to deterministic hardware solvers.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This radical token optimization eliminates mathematical hallucinations and drastically reduces computational costs, often by 90%.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We’re introducing a ‘Governance Guardian’ that enforces topological preemption, blocking transactions based on rule conflicts and forcing human-in-the-loop authorization.</a:t>
            </a:r>
          </a:p>
          <a:p>
            <a:pPr>
              <a:defRPr sz="1800">
                <a:solidFill>
                  <a:srgbClr val="C4CBDE"/>
                </a:solidFill>
              </a:defRPr>
            </a:pPr>
            <a:r>
              <a:t>Every action is recorded on a bitemporal ledger, providing immutable proof of compliance for future audits – a digital record for every dollar deployed.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13674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F2FF"/>
                </a:solidFill>
              </a:defRPr>
            </a:pPr>
            <a:r>
              <a:t>ReluLayer: Deterministic Compliance for the Modern State</a:t>
            </a:r>
          </a:p>
        </p:txBody>
      </p:sp>
      <p:pic>
        <p:nvPicPr>
          <p:cNvPr id="4" name="Picture 3" descr="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65" y="457200"/>
            <a:ext cx="4229100" cy="422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uLayer-Theme-Print" id="{A70D882A-C32E-FE40-B322-9F5CF2E83BCD}" vid="{5CCD77B8-3D7E-994E-9249-9C0457319F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392</Words>
  <Application>Microsoft Macintosh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ReluLayer.ai — Presentation Theme (Print)</dc:title>
  <dc:subject>PptxGenJS Presentation</dc:subject>
  <dc:creator>ReluLayer.ai</dc:creator>
  <cp:lastModifiedBy>Ishmael Amin</cp:lastModifiedBy>
  <cp:revision>1</cp:revision>
  <dcterms:created xsi:type="dcterms:W3CDTF">2026-03-30T18:57:39Z</dcterms:created>
  <dcterms:modified xsi:type="dcterms:W3CDTF">2026-03-31T21:36:23Z</dcterms:modified>
</cp:coreProperties>
</file>